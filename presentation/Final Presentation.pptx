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2F8A1-4287-477E-81EA-F0D56C2DAC3A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AB2A8-5519-4B2A-B329-E413CFB714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12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B2A8-5519-4B2A-B329-E413CFB714B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460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Data-Driven Business Insights for Online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87793"/>
            <a:ext cx="6400800" cy="1752600"/>
          </a:xfrm>
        </p:spPr>
        <p:txBody>
          <a:bodyPr>
            <a:normAutofit/>
          </a:bodyPr>
          <a:lstStyle/>
          <a:p>
            <a:r>
              <a:rPr b="1" dirty="0"/>
              <a:t>Prepared by: </a:t>
            </a:r>
            <a:r>
              <a:rPr lang="en-IN" b="1" dirty="0"/>
              <a:t>Subhojit Daw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089" y="155276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Business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92" y="1214918"/>
            <a:ext cx="8626415" cy="5643082"/>
          </a:xfrm>
        </p:spPr>
        <p:txBody>
          <a:bodyPr>
            <a:noAutofit/>
          </a:bodyPr>
          <a:lstStyle/>
          <a:p>
            <a:r>
              <a:rPr lang="en-GB" sz="2800" dirty="0"/>
              <a:t>Provide </a:t>
            </a:r>
            <a:r>
              <a:rPr lang="en-GB" sz="2800" b="1" dirty="0"/>
              <a:t>data-driven insights</a:t>
            </a:r>
            <a:r>
              <a:rPr lang="en-GB" sz="2800" dirty="0"/>
              <a:t> to support strategic decision-making for business &amp; management</a:t>
            </a:r>
          </a:p>
          <a:p>
            <a:r>
              <a:rPr lang="en-GB" sz="2800" dirty="0" err="1"/>
              <a:t>Analyze</a:t>
            </a:r>
            <a:r>
              <a:rPr lang="en-GB" sz="2800" dirty="0"/>
              <a:t> </a:t>
            </a:r>
            <a:r>
              <a:rPr lang="en-GB" sz="2800" b="1" dirty="0"/>
              <a:t>revenue trends, customer value, and regional performance</a:t>
            </a:r>
            <a:r>
              <a:rPr lang="en-GB" sz="2800" dirty="0"/>
              <a:t> using clean and validated transactional data</a:t>
            </a:r>
          </a:p>
          <a:p>
            <a:r>
              <a:rPr lang="en-GB" sz="2800" b="1" dirty="0"/>
              <a:t>Exclude the United Kingdom</a:t>
            </a:r>
            <a:r>
              <a:rPr lang="en-GB" sz="2800" dirty="0"/>
              <a:t> from selected analyses to shift focus toward </a:t>
            </a:r>
            <a:r>
              <a:rPr lang="en-GB" sz="2800" b="1" dirty="0"/>
              <a:t>international markets and expansion opportunities</a:t>
            </a:r>
            <a:r>
              <a:rPr lang="en-GB" sz="2800" dirty="0"/>
              <a:t>, as the UK represents a mature and already well-established market</a:t>
            </a:r>
          </a:p>
          <a:p>
            <a:r>
              <a:rPr lang="en-GB" sz="2800" dirty="0"/>
              <a:t>Identify </a:t>
            </a:r>
            <a:r>
              <a:rPr lang="en-GB" sz="2800" b="1" dirty="0"/>
              <a:t>high-growth regions, high-value customers, and seasonal demand patterns</a:t>
            </a:r>
            <a:r>
              <a:rPr lang="en-GB" sz="2800" dirty="0"/>
              <a:t> to inform forecasting, marketing prioritization, and expansion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430" y="631227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7619"/>
            <a:ext cx="8229600" cy="4525963"/>
          </a:xfrm>
        </p:spPr>
        <p:txBody>
          <a:bodyPr>
            <a:normAutofit/>
          </a:bodyPr>
          <a:lstStyle/>
          <a:p>
            <a:r>
              <a:rPr lang="en-GB" sz="2800" dirty="0"/>
              <a:t>Dataset Name (Source): Online Retail Dataset (UCI Machine Learning Repository)</a:t>
            </a:r>
            <a:endParaRPr lang="en-IN" sz="2800" dirty="0"/>
          </a:p>
          <a:p>
            <a:r>
              <a:rPr sz="2800" dirty="0"/>
              <a:t>Online retail transactional dataset</a:t>
            </a:r>
          </a:p>
          <a:p>
            <a:r>
              <a:rPr sz="2800" dirty="0"/>
              <a:t>Key fields: Invoice Date, Country, Customer ID, Quantity, Unit Price</a:t>
            </a:r>
            <a:endParaRPr lang="en-IN" sz="2800" dirty="0"/>
          </a:p>
          <a:p>
            <a:r>
              <a:rPr lang="en-GB" sz="2800" dirty="0"/>
              <a:t>Number of instances: 541,909 </a:t>
            </a:r>
            <a:endParaRPr sz="2800" dirty="0"/>
          </a:p>
          <a:p>
            <a:r>
              <a:rPr sz="2800" dirty="0"/>
              <a:t>Dataset used to analyze sales performance and demand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13" y="1352940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7732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Removed returned items where Quantity &lt; 1</a:t>
            </a:r>
          </a:p>
          <a:p>
            <a:r>
              <a:rPr sz="2800" dirty="0"/>
              <a:t>Removed incorrect entries where Unit Price &lt; 0</a:t>
            </a:r>
          </a:p>
          <a:p>
            <a:r>
              <a:rPr sz="2800" dirty="0"/>
              <a:t>Created Revenue metric: Quantity × Unit Price</a:t>
            </a:r>
          </a:p>
          <a:p>
            <a:r>
              <a:rPr sz="2800" dirty="0"/>
              <a:t>Ensured reliable and accurate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66" y="1417638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562" y="2574985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What are the seasonal revenue trends?</a:t>
            </a:r>
          </a:p>
          <a:p>
            <a:r>
              <a:rPr sz="2800" dirty="0"/>
              <a:t>Which countries generate the highest revenue?</a:t>
            </a:r>
          </a:p>
          <a:p>
            <a:r>
              <a:rPr sz="2800" dirty="0"/>
              <a:t>Who are the highest value customers?</a:t>
            </a:r>
          </a:p>
          <a:p>
            <a:r>
              <a:rPr sz="2800" dirty="0"/>
              <a:t>Which regions show strong demand for expansion?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540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u="sng" dirty="0"/>
              <a:t>Insight 1: Monthly Revenue Trends (2011)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7042"/>
            <a:ext cx="2631057" cy="4525963"/>
          </a:xfrm>
        </p:spPr>
        <p:txBody>
          <a:bodyPr>
            <a:noAutofit/>
          </a:bodyPr>
          <a:lstStyle/>
          <a:p>
            <a:r>
              <a:rPr sz="2400" dirty="0"/>
              <a:t>Line chart used to analyze monthly revenue for 2011</a:t>
            </a:r>
          </a:p>
          <a:p>
            <a:r>
              <a:rPr sz="2400" dirty="0"/>
              <a:t>Clear seasonal peaks observed in late Q4</a:t>
            </a:r>
          </a:p>
          <a:p>
            <a:r>
              <a:rPr sz="2400" dirty="0"/>
              <a:t>Supports forecasting and inventory planning</a:t>
            </a:r>
          </a:p>
        </p:txBody>
      </p:sp>
      <p:pic>
        <p:nvPicPr>
          <p:cNvPr id="5" name="Picture 4" descr="A graph with blue lines and numbers">
            <a:extLst>
              <a:ext uri="{FF2B5EF4-FFF2-40B4-BE49-F238E27FC236}">
                <a16:creationId xmlns:a16="http://schemas.microsoft.com/office/drawing/2014/main" id="{36A84EA3-39B6-99BD-EAE2-3F3490EB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819" y="1764102"/>
            <a:ext cx="6171852" cy="4757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 dirty="0"/>
              <a:t>Insight 2: Top Countries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1712"/>
            <a:ext cx="3743864" cy="4525963"/>
          </a:xfrm>
        </p:spPr>
        <p:txBody>
          <a:bodyPr>
            <a:normAutofit/>
          </a:bodyPr>
          <a:lstStyle/>
          <a:p>
            <a:r>
              <a:rPr sz="2400" dirty="0"/>
              <a:t>Top 10 countries analyzed excluding the UK</a:t>
            </a:r>
          </a:p>
          <a:p>
            <a:r>
              <a:rPr sz="2400" dirty="0"/>
              <a:t>Revenue and Quantity compared using stacked bar chart</a:t>
            </a:r>
          </a:p>
          <a:p>
            <a:r>
              <a:rPr sz="2400" dirty="0"/>
              <a:t>Helps identify high-performing international markets</a:t>
            </a:r>
          </a:p>
        </p:txBody>
      </p:sp>
      <p:pic>
        <p:nvPicPr>
          <p:cNvPr id="5" name="Picture 4" descr="A graph of blue squares&#10;&#10;AI-generated content may be incorrect.">
            <a:extLst>
              <a:ext uri="{FF2B5EF4-FFF2-40B4-BE49-F238E27FC236}">
                <a16:creationId xmlns:a16="http://schemas.microsoft.com/office/drawing/2014/main" id="{5373C152-D78E-A39E-548B-B8AACB89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591" y="1592980"/>
            <a:ext cx="4643451" cy="4994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9561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u="sng" dirty="0"/>
              <a:t>Insight 3: Top 10 Customers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94" y="2470060"/>
            <a:ext cx="4261449" cy="4525963"/>
          </a:xfrm>
        </p:spPr>
        <p:txBody>
          <a:bodyPr>
            <a:normAutofit/>
          </a:bodyPr>
          <a:lstStyle/>
          <a:p>
            <a:r>
              <a:rPr sz="2400" dirty="0"/>
              <a:t>Revenue contribution analyzed by customer</a:t>
            </a:r>
          </a:p>
          <a:p>
            <a:r>
              <a:rPr sz="2400" dirty="0"/>
              <a:t>Small group of customers generates significant revenue</a:t>
            </a:r>
          </a:p>
          <a:p>
            <a:r>
              <a:rPr sz="2400" dirty="0"/>
              <a:t>Supports targeted retention and loyalty strategies</a:t>
            </a:r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3D92DD04-7004-202A-E3D4-0CB385FB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843" y="1534095"/>
            <a:ext cx="4767158" cy="4944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u="sng" dirty="0"/>
              <a:t>Insight 4: Product Demand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83" y="2497348"/>
            <a:ext cx="3579962" cy="4525963"/>
          </a:xfrm>
        </p:spPr>
        <p:txBody>
          <a:bodyPr>
            <a:normAutofit/>
          </a:bodyPr>
          <a:lstStyle/>
          <a:p>
            <a:r>
              <a:rPr sz="2400" dirty="0"/>
              <a:t>Demand measured using total quantity sold</a:t>
            </a:r>
          </a:p>
          <a:p>
            <a:r>
              <a:rPr sz="2400" dirty="0"/>
              <a:t>High-demand regions identified for expansion</a:t>
            </a:r>
          </a:p>
          <a:p>
            <a:r>
              <a:rPr sz="2400" dirty="0"/>
              <a:t>UK excluded to focus on growth opportunities</a:t>
            </a:r>
          </a:p>
        </p:txBody>
      </p:sp>
      <p:pic>
        <p:nvPicPr>
          <p:cNvPr id="7" name="Picture 6" descr="A graph of blue squares with black text&#10;&#10;AI-generated content may be incorrect.">
            <a:extLst>
              <a:ext uri="{FF2B5EF4-FFF2-40B4-BE49-F238E27FC236}">
                <a16:creationId xmlns:a16="http://schemas.microsoft.com/office/drawing/2014/main" id="{DE493CB9-D0FE-F14F-D4D9-9A9675F9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745" y="1442395"/>
            <a:ext cx="5117276" cy="5140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38" y="1189037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664" y="2332037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Use seasonal trends for better forecasting</a:t>
            </a:r>
          </a:p>
          <a:p>
            <a:r>
              <a:rPr sz="2800" dirty="0"/>
              <a:t>Focus marketing efforts on high-performing countries</a:t>
            </a:r>
          </a:p>
          <a:p>
            <a:r>
              <a:rPr sz="2800" dirty="0"/>
              <a:t>Prioritize retention of high-value customers</a:t>
            </a:r>
          </a:p>
          <a:p>
            <a:r>
              <a:rPr sz="2800" dirty="0"/>
              <a:t>Explore expansion in high-demand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309" y="1534094"/>
            <a:ext cx="8229600" cy="1143000"/>
          </a:xfrm>
        </p:spPr>
        <p:txBody>
          <a:bodyPr>
            <a:normAutofit/>
          </a:bodyPr>
          <a:lstStyle/>
          <a:p>
            <a:r>
              <a:rPr sz="4000" b="1" u="sng" dirty="0"/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9271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Power BI for data visualization</a:t>
            </a:r>
          </a:p>
          <a:p>
            <a:r>
              <a:rPr sz="2800" dirty="0"/>
              <a:t>Excel dataset for analysis</a:t>
            </a:r>
          </a:p>
          <a:p>
            <a:r>
              <a:rPr sz="2800" dirty="0"/>
              <a:t>Data cleaning and transformation techniques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672" y="1273896"/>
            <a:ext cx="8229600" cy="1143000"/>
          </a:xfrm>
        </p:spPr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672" y="2514600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Clean data enables accurate decision-making</a:t>
            </a:r>
          </a:p>
          <a:p>
            <a:r>
              <a:rPr sz="2800" dirty="0"/>
              <a:t>Visual analytics bridges data and leadership decisions</a:t>
            </a:r>
          </a:p>
          <a:p>
            <a:r>
              <a:rPr sz="2800" dirty="0"/>
              <a:t>Insights support growth, retention, and expansion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376</Words>
  <Application>Microsoft Office PowerPoint</Application>
  <PresentationFormat>On-screen Show (4:3)</PresentationFormat>
  <Paragraphs>53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Data-Driven Business Insights for Online Retail</vt:lpstr>
      <vt:lpstr>Business Context &amp; Objectives</vt:lpstr>
      <vt:lpstr>Dataset Overview</vt:lpstr>
      <vt:lpstr>Data Cleaning &amp; Preparation</vt:lpstr>
      <vt:lpstr>Key Business Questions</vt:lpstr>
      <vt:lpstr>Insight 1: Monthly Revenue Trends (2011)</vt:lpstr>
      <vt:lpstr>Insight 2: Top Countries by Revenue</vt:lpstr>
      <vt:lpstr>Insight 3: Top 10 Customers by Revenue</vt:lpstr>
      <vt:lpstr>Insight 4: Product Demand by Country</vt:lpstr>
      <vt:lpstr>Key Recommendations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Subhojit daw</cp:lastModifiedBy>
  <cp:revision>6</cp:revision>
  <dcterms:created xsi:type="dcterms:W3CDTF">2013-01-27T09:14:16Z</dcterms:created>
  <dcterms:modified xsi:type="dcterms:W3CDTF">2026-02-07T18:15:03Z</dcterms:modified>
  <cp:category/>
</cp:coreProperties>
</file>